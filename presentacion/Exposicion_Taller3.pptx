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dPt>
            <c:idx val="0"/>
            <c:spPr>
              <a:solidFill>
                <a:srgbClr val="1F8A5E"/>
              </a:solidFill>
            </c:spPr>
          </c:dPt>
          <c:dPt>
            <c:idx val="1"/>
            <c:spPr>
              <a:solidFill>
                <a:srgbClr val="1F8A5E"/>
              </a:solidFill>
            </c:spPr>
          </c:dPt>
          <c:dPt>
            <c:idx val="2"/>
            <c:spPr>
              <a:solidFill>
                <a:srgbClr val="1F8A5E"/>
              </a:solidFill>
            </c:spPr>
          </c:dPt>
          <c:dPt>
            <c:idx val="3"/>
            <c:spPr>
              <a:solidFill>
                <a:srgbClr val="1F8A5E"/>
              </a:solidFill>
            </c:spPr>
          </c:dPt>
          <c:dPt>
            <c:idx val="4"/>
            <c:spPr>
              <a:solidFill>
                <a:srgbClr val="2B3A4A"/>
              </a:solidFill>
            </c:spPr>
          </c:dPt>
          <c:dPt>
            <c:idx val="5"/>
            <c:spPr>
              <a:solidFill>
                <a:srgbClr val="2B3A4A"/>
              </a:solidFill>
            </c:spPr>
          </c:dPt>
          <c:dPt>
            <c:idx val="6"/>
            <c:spPr>
              <a:solidFill>
                <a:srgbClr val="2B3A4A"/>
              </a:solidFill>
            </c:spPr>
          </c:dPt>
          <c:dPt>
            <c:idx val="7"/>
            <c:spPr>
              <a:solidFill>
                <a:srgbClr val="2B3A4A"/>
              </a:solidFill>
            </c:spPr>
          </c:dPt>
          <c:dPt>
            <c:idx val="8"/>
            <c:spPr>
              <a:solidFill>
                <a:srgbClr val="2B3A4A"/>
              </a:solidFill>
            </c:spPr>
          </c:dPt>
          <c:dPt>
            <c:idx val="9"/>
            <c:spPr>
              <a:solidFill>
                <a:srgbClr val="2B3A4A"/>
              </a:solidFill>
            </c:spPr>
          </c:dPt>
          <c:cat>
            <c:strRef>
              <c:f>Sheet1!$A$2:$A$11</c:f>
              <c:strCache>
                <c:ptCount val="10"/>
                <c:pt idx="0">
                  <c:v>Categorias</c:v>
                </c:pt>
                <c:pt idx="1">
                  <c:v>Proveedores</c:v>
                </c:pt>
                <c:pt idx="2">
                  <c:v>Productos</c:v>
                </c:pt>
                <c:pt idx="3">
                  <c:v>Clientes</c:v>
                </c:pt>
                <c:pt idx="4">
                  <c:v>Direcciones</c:v>
                </c:pt>
                <c:pt idx="5">
                  <c:v>Resenas</c:v>
                </c:pt>
                <c:pt idx="6">
                  <c:v>Envios</c:v>
                </c:pt>
                <c:pt idx="7">
                  <c:v>Pedidos</c:v>
                </c:pt>
                <c:pt idx="8">
                  <c:v>Pagos</c:v>
                </c:pt>
                <c:pt idx="9">
                  <c:v>DetallePedido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25</c:v>
                </c:pt>
                <c:pt idx="2">
                  <c:v>300</c:v>
                </c:pt>
                <c:pt idx="3">
                  <c:v>800</c:v>
                </c:pt>
                <c:pt idx="4">
                  <c:v>1185</c:v>
                </c:pt>
                <c:pt idx="5">
                  <c:v>1378</c:v>
                </c:pt>
                <c:pt idx="6">
                  <c:v>1866</c:v>
                </c:pt>
                <c:pt idx="7">
                  <c:v>2000</c:v>
                </c:pt>
                <c:pt idx="8">
                  <c:v>2144</c:v>
                </c:pt>
                <c:pt idx="9">
                  <c:v>4317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E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dPt>
            <c:idx val="0"/>
            <c:spPr>
              <a:solidFill>
                <a:srgbClr val="2B3A4A"/>
              </a:solidFill>
            </c:spPr>
          </c:dPt>
          <c:dPt>
            <c:idx val="1"/>
            <c:spPr>
              <a:solidFill>
                <a:srgbClr val="2B3A4A"/>
              </a:solidFill>
            </c:spPr>
          </c:dPt>
          <c:dPt>
            <c:idx val="2"/>
            <c:spPr>
              <a:solidFill>
                <a:srgbClr val="2B3A4A"/>
              </a:solidFill>
            </c:spPr>
          </c:dPt>
          <c:dPt>
            <c:idx val="3"/>
            <c:spPr>
              <a:solidFill>
                <a:srgbClr val="1F8A5E"/>
              </a:solidFill>
            </c:spPr>
          </c:dPt>
          <c:dPt>
            <c:idx val="4"/>
            <c:spPr>
              <a:solidFill>
                <a:srgbClr val="1F8A5E"/>
              </a:solidFill>
            </c:spPr>
          </c:dPt>
          <c:dPt>
            <c:idx val="5"/>
            <c:spPr>
              <a:solidFill>
                <a:srgbClr val="E8962E"/>
              </a:solidFill>
            </c:spPr>
          </c:dPt>
          <c:cat>
            <c:strRef>
              <c:f>Sheet1!$A$2:$A$7</c:f>
              <c:strCache>
                <c:ptCount val="6"/>
                <c:pt idx="0">
                  <c:v>Belleza</c:v>
                </c:pt>
                <c:pt idx="1">
                  <c:v>Calzado</c:v>
                </c:pt>
                <c:pt idx="2">
                  <c:v>Cocina</c:v>
                </c:pt>
                <c:pt idx="3">
                  <c:v>Oficina</c:v>
                </c:pt>
                <c:pt idx="4">
                  <c:v>Tecnología</c:v>
                </c:pt>
                <c:pt idx="5">
                  <c:v>Deportes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37.2</c:v>
                </c:pt>
                <c:pt idx="1">
                  <c:v>35.5</c:v>
                </c:pt>
                <c:pt idx="2">
                  <c:v>40.9</c:v>
                </c:pt>
                <c:pt idx="3">
                  <c:v>42.4</c:v>
                </c:pt>
                <c:pt idx="4">
                  <c:v>42.8</c:v>
                </c:pt>
                <c:pt idx="5">
                  <c:v>38.0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E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dPt>
            <c:idx val="0"/>
            <c:spPr>
              <a:solidFill>
                <a:srgbClr val="1F8A5E"/>
              </a:solidFill>
            </c:spPr>
          </c:dPt>
          <c:dPt>
            <c:idx val="1"/>
            <c:spPr>
              <a:solidFill>
                <a:srgbClr val="2B3A4A"/>
              </a:solidFill>
            </c:spPr>
          </c:dPt>
          <c:dPt>
            <c:idx val="2"/>
            <c:spPr>
              <a:solidFill>
                <a:srgbClr val="2B3A4A"/>
              </a:solidFill>
            </c:spPr>
          </c:dPt>
          <c:dPt>
            <c:idx val="3"/>
            <c:spPr>
              <a:solidFill>
                <a:srgbClr val="2B3A4A"/>
              </a:solidFill>
            </c:spPr>
          </c:dPt>
          <c:dPt>
            <c:idx val="4"/>
            <c:spPr>
              <a:solidFill>
                <a:srgbClr val="D9534F"/>
              </a:solidFill>
            </c:spPr>
          </c:dPt>
          <c:dPt>
            <c:idx val="5"/>
            <c:spPr>
              <a:solidFill>
                <a:srgbClr val="D9534F"/>
              </a:solidFill>
            </c:spPr>
          </c:dPt>
          <c:cat>
            <c:strRef>
              <c:f>Sheet1!$A$2:$A$7</c:f>
              <c:strCache>
                <c:ptCount val="6"/>
                <c:pt idx="0">
                  <c:v>Servientrega</c:v>
                </c:pt>
                <c:pt idx="1">
                  <c:v>Envía</c:v>
                </c:pt>
                <c:pt idx="2">
                  <c:v>Coordinadora</c:v>
                </c:pt>
                <c:pt idx="3">
                  <c:v>TCC</c:v>
                </c:pt>
                <c:pt idx="4">
                  <c:v>Interrapidísimo</c:v>
                </c:pt>
                <c:pt idx="5">
                  <c:v>Deprisa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28.5</c:v>
                </c:pt>
                <c:pt idx="1">
                  <c:v>32.6</c:v>
                </c:pt>
                <c:pt idx="2">
                  <c:v>38.7</c:v>
                </c:pt>
                <c:pt idx="3">
                  <c:v>42.3</c:v>
                </c:pt>
                <c:pt idx="4">
                  <c:v>52.1</c:v>
                </c:pt>
                <c:pt idx="5">
                  <c:v>61.5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E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dPt>
            <c:idx val="0"/>
            <c:spPr>
              <a:solidFill>
                <a:srgbClr val="1F8A5E"/>
              </a:solidFill>
            </c:spPr>
          </c:dPt>
          <c:dPt>
            <c:idx val="1"/>
            <c:spPr>
              <a:solidFill>
                <a:srgbClr val="1F8A5E"/>
              </a:solidFill>
            </c:spPr>
          </c:dPt>
          <c:dPt>
            <c:idx val="2"/>
            <c:spPr>
              <a:solidFill>
                <a:srgbClr val="2B3A4A"/>
              </a:solidFill>
            </c:spPr>
          </c:dPt>
          <c:dPt>
            <c:idx val="3"/>
            <c:spPr>
              <a:solidFill>
                <a:srgbClr val="2B3A4A"/>
              </a:solidFill>
            </c:spPr>
          </c:dPt>
          <c:dPt>
            <c:idx val="4"/>
            <c:spPr>
              <a:solidFill>
                <a:srgbClr val="D9534F"/>
              </a:solidFill>
            </c:spPr>
          </c:dPt>
          <c:cat>
            <c:strRef>
              <c:f>Sheet1!$A$2:$A$6</c:f>
              <c:strCache>
                <c:ptCount val="5"/>
                <c:pt idx="0">
                  <c:v>Contraentrega</c:v>
                </c:pt>
                <c:pt idx="1">
                  <c:v>Nequi</c:v>
                </c:pt>
                <c:pt idx="2">
                  <c:v>Tarjeta débito</c:v>
                </c:pt>
                <c:pt idx="3">
                  <c:v>PSE</c:v>
                </c:pt>
                <c:pt idx="4">
                  <c:v>Tarjeta crédito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7.0</c:v>
                </c:pt>
                <c:pt idx="2">
                  <c:v>9.5</c:v>
                </c:pt>
                <c:pt idx="3">
                  <c:v>12.3</c:v>
                </c:pt>
                <c:pt idx="4">
                  <c:v>14.3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E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Buenos días. Somos Mariana Aguilar y Giany Salazar. Presentamos la migración de TiendaOnline, una tienda de comercio electrónico, desde SQL Server hacia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Este es el orden. Primero el caso y los dos modelos; luego el código, la aplicación y la verificación; después MongoDB y las consultas; y cerramos con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TiendaOnline vende 300 productos a 800 clientes en 12 ciudades. Los pedidos se pagan con cinco medios y se despachan con seis transportadoras. Elegimos este caso porque mezcla entidades que existen solas, como el producto o el cliente, con otras que solo tienen sentido dentro del pedido, como sus líneas o su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Este es el modelo relacional: 10 tablas unidas por 11 llaves foráneas. Todas las relaciones son uno a muchos, menos pedido–envío, que es uno a cero o uno. [Abrir SSMS, mostrar las tablas y ejecutar 03_verificacion_sql.sql.] Aquí se ve el conteo de cada tabla y los cinco controles de coherencia en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El volumen está repartido según el negocio: pocas categorías y proveedores, y miles de líneas, pagos y envíos. Además de llaves, usamos CHECK, UNIQUE y una columna calculada. Los datos se generaron con reglas para que sean coherentes, por ejemplo, solo puede reseñar quien recibió 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La migración no copia cada tabla como colección. Las líneas en gris oscuro son colecciones propias; las naranjas son tablas que se metieron dentro de otro documento. Pedidos reúne cuatro tablas: el pedido, sus líneas, sus pagos y su envío. Clientes trae embebidas sus direcciones. Así pasamos de 10 tablas a 6 colecciones.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Embebimos cuatro cosas. Las líneas, los pagos y el envío van dentro del pedido porque no existen sin él, son pocos y siempre se leen juntos; así la pantalla 'Mi pedido' es una sola lectura y crear un pedido es una sola escritura. Las direcciones van dentro del cliente porque son de él y son máximo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El cliente, el producto, la categoría y el proveedor se referencian porque tienen vida propia y cambian. Las reseñas son colección aparte porque pueden ser miles. Hay dos casos especiales: la dirección del pedido es una copia histórica, como en una factura, y la calificación del producto es un dato precalculado.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El código tiene tres etapas. Extraer: lee las 10 tablas. Transformar: agrupa las tablas hijas por su llave foránea con un defaultdict; así cada pedido recibe sus líneas, pagos y envío en un solo paso. Cargar: borra y recrea las colecciones, aplica validadores, inserta e indexa. Usamos Decimal128 para no perder centavos y conservamos la llave primaria como _id. [Ejecutar migrar.py.]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Como valor agregado hicimos una aplicación que migra cualquier base de SQL Server. Tiene cuatro pantallas: conexión, modelo, migración y verificación. En la pantalla del modelo lee las tablas y llaves, mide cuántos hijos tiene cada padre y propone qué hacer con cada tabla, explicando por qué. [Abrir python migrador_app.py y conectar a TiendaOnline.]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La aplicación ofrece tres opciones. Colección propia es referencing: la tabla queda sola y sus llaves foráneas pasan a ser ids. Array embebido mete las filas como una lista dentro del padre; es embedding uno a muchos. Subdocumento mete un solo objeto dentro del padre; es embedding uno a uno y solo aparece cuando cada padre tiene como máximo un hijo.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El número de opciones depende de las llaves foráneas. Categorías, proveedores y clientes no tienen ninguna: no hay padre donde meterlas, así que solo pueden ser colección. Cada FK agrega la opción de ser array en esa tabla padre, y solo Envíos, que es uno a uno, ofrece subdocumento. Si eligiéramos mal, por ejemplo reseñas como array en productos, el producto crecería con cada reseña. La única diferencia con nuestro modelo es Direcciones.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Para probar que no se perdió nada hicimos 79 controles. Lo importante es que en las tablas que se fusionaron no basta contar documentos: comparamos las filas de cada tabla con la suma del tamaño de su array. Además las sumas de dinero coinciden al centavo y no hay ninguna referencia sin destino. [Ejecutar python migracion/verificar.py.]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[Abrir Compass o mongosh, mostrar las 6 colecciones y el pedido 24.] Así queda un pedido: el cliente y los productos son referencias; las líneas, los pagos y el envío están adentro. Este pedido tuvo un pago rechazado y luego uno aprobado, y se ve todo en un solo documento. En SQL Server haría falta unir cinco tablas.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Hicimos siete consultas, cada una responde una pregunta del negocio. Las que necesitan datos de otras colecciones usan $lookup, hasta cuatro. C4 y C7 no lo necesitan porque el envío y los pagos están embebidos en el pedido: esa es la ventaja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La C1 busca los diez productos que más facturan. El primero es el Smartwatch Zenit Plus, con 44 millones y 47 % de margen, pero solo le quedan nueve unidades. En una empresa real esto va al área de compras para reponer ese producto antes de que se agote.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La C2 muestra que facturar mucho no es lo mismo que ganar mucho. Deportes es la que más vende, 269 millones, pero deja 38 % de margen, menos que Tecnología con 42,8 %. Una empresa real usaría esto para decidir dónde invertir en publicidad.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La C3 encuentra clientes mal clasificados. Hay un cliente Estándar con 28 pedidos y casi 24 millones en compras. En la vida real se le subiría a Oro y se le daría una campaña de fidelización para no perderlo.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La C4 mide a las transportadoras. Deprisa promete dos días y llega tarde en el 61,5 % de los envíos; Servientrega es la más cumplida. No necesita $lookup porque el envío está dentro del pedido. Una empresa le pasaría más volumen a Servientrega y renegociaría con Deprisa.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La C5 usa cuatro $lookup y encuentra productos mal calificados con su proveedor. Importadora Global provee tres de ellos, y la Licuadora Cumbre Plus tiene 1,69 de promedio aunque está entre las que más venden. En la vida real se le abriría un reclamo al proveedor con las quejas como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La C6 calcula cuántos días de inventario le quedan a cada producto. Un libro ya está en cero y el Smartwatch, que es el que más factura, se agota en 22 días. Coincide con la C1. En la práctica se generaría la orden de compra con el contacto del proveedor.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GIANY: La C7 analiza los intentos de pago. La tarjeta de crédito rechaza el 14,3 %, unos 64 millones que no pasaron al primer intento; Nequi solo el 7 %. La tienda podría sugerir Nequi o PSE cuando falla la tarjeta.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MARIANA: Para cerrar: diseñamos el modelo según cómo se usan los datos, comprobamos con 79 controles que no se perdió nada, y las consultas responden preguntas reales del negocio. La aplicación demuestra que estas reglas sirven para otras bases. Muchas gracias, ¿tienen 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962E"/>
                </a:solidFill>
                <a:latin typeface="Calibri"/>
              </a:rPr>
              <a:t>BASES DE DATOS II  ·  TALLER EVALUATIVO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Migración de TiendaOnline:
de SQL Server a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1F4F7"/>
                </a:solidFill>
                <a:latin typeface="Calibri"/>
              </a:rPr>
              <a:t>Comercio electrónico · Modelado documental · Migración en Python · Aggregation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962E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4F7"/>
                </a:solidFill>
                <a:latin typeface="Calibri"/>
              </a:rPr>
              <a:t>tablas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962E"/>
                </a:solidFill>
                <a:latin typeface="Cambria"/>
              </a:rPr>
              <a:t>14.027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4F7"/>
                </a:solidFill>
                <a:latin typeface="Calibri"/>
              </a:rPr>
              <a:t>registros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962E"/>
                </a:solidFill>
                <a:latin typeface="Cambri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4F7"/>
                </a:solidFill>
                <a:latin typeface="Calibri"/>
              </a:rPr>
              <a:t>colecciones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9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962E"/>
                </a:solidFill>
                <a:latin typeface="Cambria"/>
              </a:rPr>
              <a:t>79/79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9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4F7"/>
                </a:solidFill>
                <a:latin typeface="Calibri"/>
              </a:rPr>
              <a:t>controles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962E"/>
                </a:solidFill>
                <a:latin typeface="Cambria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1F4F7"/>
                </a:solidFill>
                <a:latin typeface="Calibri"/>
              </a:rPr>
              <a:t>consultas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Mariana Aguilar Alcaraz  ·  Giany Andrés Salazar Bustamante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      Profesor: Juan Carlos Gómez  ·  Universidad Católica Luis Amigó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6733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El caso de estudio: TiendaOnline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5877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Modelo relacional en SQL Server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502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Modelo documental: Embedding y Referencing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416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Código de la migración (migrar.py)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53309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Aplicación de escritorio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733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Verificación de la migración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514600"/>
            <a:ext cx="548640" cy="54864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5877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MongoDB: colecciones y documento de pedido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502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Las 7 consultas de negocio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343400"/>
            <a:ext cx="548640" cy="548640"/>
          </a:xfrm>
          <a:prstGeom prst="ellipse">
            <a:avLst/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416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933"/>
                </a:solidFill>
                <a:latin typeface="Calibri"/>
              </a:rPr>
              <a:t>Conclusiones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9893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E6B78"/>
                </a:solidFill>
                <a:latin typeface="Calibri"/>
              </a:rPr>
              <a:t>Mariana: 1 – 4 y C1 – C3   ·   Giany: 5 – 7 y C4 – C7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El caso: TiendaOnline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Tienda de comercio electrónico colombiana · enero 2025 –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1 · Caso de estudio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10312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8A5E"/>
                </a:solidFill>
                <a:latin typeface="Cambria"/>
              </a:rPr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productos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en 12 categorías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691640"/>
            <a:ext cx="210312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87451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8A5E"/>
                </a:solidFill>
                <a:latin typeface="Cambria"/>
              </a:rPr>
              <a:t>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0175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en 12 ciudades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91640"/>
            <a:ext cx="210312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87451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8A5E"/>
                </a:solidFill>
                <a:latin typeface="Cambria"/>
              </a:rPr>
              <a:t>2.000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30175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con líneas, pagos y envío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691640"/>
            <a:ext cx="210312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5" y="187451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8A5E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5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medios de pago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30175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tarjetas, PSE, Nequi, contraentrega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691640"/>
            <a:ext cx="210312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187451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8A5E"/>
                </a:solidFill>
                <a:latin typeface="Cambri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transportadoras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0175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con tiempos distintos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8962E"/>
                </a:solidFill>
                <a:latin typeface="Calibri"/>
              </a:rPr>
              <a:t>¿Por qué este dominio?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E2933"/>
                </a:solidFill>
                <a:latin typeface="Calibri"/>
              </a:rPr>
              <a:t>Mezcla entidades </a:t>
            </a:r>
            <a:r>
              <a:rPr sz="1600" b="1" i="0">
                <a:solidFill>
                  <a:srgbClr val="1E2933"/>
                </a:solidFill>
                <a:latin typeface="Calibri"/>
              </a:rPr>
              <a:t>maestras</a:t>
            </a:r>
            <a:r>
              <a:rPr sz="1600" b="0" i="0">
                <a:solidFill>
                  <a:srgbClr val="1E2933"/>
                </a:solidFill>
                <a:latin typeface="Calibri"/>
              </a:rPr>
              <a:t> (productos, clientes, proveedores, categorías) con entidades </a:t>
            </a:r>
            <a:r>
              <a:rPr sz="1600" b="1" i="0">
                <a:solidFill>
                  <a:srgbClr val="1E2933"/>
                </a:solidFill>
                <a:latin typeface="Calibri"/>
              </a:rPr>
              <a:t>transaccionales</a:t>
            </a:r>
            <a:r>
              <a:rPr sz="1600" b="0" i="0">
                <a:solidFill>
                  <a:srgbClr val="1E2933"/>
                </a:solidFill>
                <a:latin typeface="Calibri"/>
              </a:rPr>
              <a:t> (pedidos, líneas, pagos, envíos).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E2933"/>
                </a:solidFill>
                <a:latin typeface="Calibri"/>
              </a:rPr>
              <a:t>Unas tienen vida propia y se consultan desde muchas partes; otras solo existen dentro de su pedido. Eso obliga a tomar decisiones reales de Embedding y Referencing.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Modelo relacional en SQL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10 entidades · 11 llaves foráneas · 14.027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2 · Modelo relacional</a:t>
            </a:r>
          </a:p>
        </p:txBody>
      </p:sp>
      <p:pic>
        <p:nvPicPr>
          <p:cNvPr id="5" name="Picture 4" descr="diagrama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863840" cy="33446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600200"/>
            <a:ext cx="2926080" cy="3346704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1783080"/>
            <a:ext cx="2560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Relaciones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Todas 1:N, excepto Pedidos–Envios (1:0..1): un pedido puede no haberse despachado.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DetallePedido resuelve el N:M entre Pedidos y Productos.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Cada pedido va a una dirección de su propio cliente.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66360"/>
            <a:ext cx="11109960" cy="109728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8A5E"/>
                </a:solidFill>
                <a:latin typeface="Calibri"/>
              </a:rPr>
              <a:t>Demo en SSMS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Mostrar las 10 tablas en la base TiendaOnline y ejecutar sql/03_verificacion_sql.sql: conteo por tabla y 5 controles de coherencia, todos en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14.027 registros con reglas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Las maestras tienen pocos registros; las transaccionales concentran el volumen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2 · Modelo relacional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1645920"/>
            <a:ext cx="4892040" cy="80467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8A5E"/>
                </a:solidFill>
                <a:latin typeface="Calibri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0299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alibri"/>
              </a:rPr>
              <a:t>precios &gt; 0, estados válidos, calificación 1–5, Total = Subtotal + Envío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578608"/>
            <a:ext cx="4892040" cy="80467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670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8A5E"/>
                </a:solidFill>
                <a:latin typeface="Calibri"/>
              </a:rPr>
              <a:t>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9626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alibri"/>
              </a:rPr>
              <a:t>SKU, correo, NIT, guía, una reseña por cliente y producto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511296"/>
            <a:ext cx="4892040" cy="80467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6027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8A5E"/>
                </a:solidFill>
                <a:latin typeface="Calibri"/>
              </a:rPr>
              <a:t>Columna calculada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8953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alibri"/>
              </a:rPr>
              <a:t>subtotal de la línea = cantidad × precio – descuento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443984"/>
            <a:ext cx="4892040" cy="80467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5354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8A5E"/>
                </a:solidFill>
                <a:latin typeface="Calibri"/>
              </a:rPr>
              <a:t>Índices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8280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alibri"/>
              </a:rPr>
              <a:t>en todas las llaves foráneas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5376672"/>
            <a:ext cx="4892040" cy="80467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5468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8A5E"/>
                </a:solidFill>
                <a:latin typeface="Calibri"/>
              </a:rPr>
              <a:t>Datos coherentes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760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alibri"/>
              </a:rPr>
              <a:t>generados con semilla fija; envío gratis desde $150.000; solo reseña quien recibió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De 10 tablas a 6 colecciones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No copiamos tabla por tabla: decidimos según cómo se usan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3 · Modelo documental</a:t>
            </a:r>
          </a:p>
        </p:txBody>
      </p:sp>
      <p:pic>
        <p:nvPicPr>
          <p:cNvPr id="5" name="Picture 4" descr="tablas_a_col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4705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Embedding: lo que pertenece al padre y se lee junto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Se embebe si pertenece a un solo padre, es acotado y se lee con 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3 · Modelo documental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962E"/>
                </a:solidFill>
                <a:latin typeface="Consolas"/>
              </a:rPr>
              <a:t>items [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DetallePedido → 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7004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Una línea no existe sin su pedido. 1 a 5 por pedido. Crear el pedido es una sola escritura atómica.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962E"/>
                </a:solidFill>
                <a:latin typeface="Consolas"/>
              </a:rPr>
              <a:t>pagos [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Pagos → pedidos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7004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Los intentos de pago son de ese pedido y son pocos (máx. 2). Para saber si está pagado hay que verlos juntos.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178807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962E"/>
                </a:solidFill>
                <a:latin typeface="Consolas"/>
              </a:rPr>
              <a:t>envio {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36007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Envios → 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00176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Relación 1:0..1. Una colección para un solo documento por pedido solo agregaría $lookup.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78807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962E"/>
                </a:solidFill>
                <a:latin typeface="Consolas"/>
              </a:rPr>
              <a:t>direcciones [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36007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Direcciones → 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00176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De 1 a 3 por cliente, solo de él, y se muestran en su perfil y al comprar.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Referencing, copias y datos calculados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Se referencia lo que tiene vida propia, se comparte o crece sin límite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3 · Modelo documental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920240"/>
                <a:gridCol w="56235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Campo en MongoDB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onsolas"/>
                        </a:rPr>
                        <a:t>pedidos.cliente_id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Referencing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El cliente acumula pedidos sin límite (16 MB); embeberlo duplicaría sus datos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onsolas"/>
                        </a:rPr>
                        <a:t>items.producto_id + sku, nombre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Referencing + copia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Stock y precio cambian; la copia muestra el pedido sin $lookup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onsolas"/>
                        </a:rPr>
                        <a:t>productos.categoria_id / proveedor_id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Referencing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Catálogos compartidos: se cambian en un solo documento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onsolas"/>
                        </a:rPr>
                        <a:t>resenas (colección)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Referencing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Crecen sin límite y se consultan desde producto y cliente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onsolas"/>
                        </a:rPr>
                        <a:t>pedidos.direccion_envio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Copia histórica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Debe mostrar a dónde se envió, aunque el cliente la cambie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onsolas"/>
                        </a:rPr>
                        <a:t>productos.calificacion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Calculado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La ficha muestra el promedio sin recorrer las reseñas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715000"/>
            <a:ext cx="11109960" cy="594360"/>
          </a:xfrm>
          <a:prstGeom prst="roundRect">
            <a:avLst>
              <a:gd name="adj" fmla="val 6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Regla: embeber lo acotado y propio del padre; referenciar lo compartido, independiente o que crece.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Código de la migración: migrar.py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Python con pyodbc (lee SQL Server) y pymongo (escribe en MongoDB)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4 · Migración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3A4A"/>
                </a:solidFill>
                <a:latin typeface="Cambria"/>
              </a:rPr>
              <a:t>Extraer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SELECT de las 10 tablas, ordenadas por llave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Las líneas con JOIN a Productos (SKU y nombre)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59" y="2834640"/>
            <a:ext cx="274320" cy="365760"/>
          </a:xfrm>
          <a:prstGeom prst="rightArrow">
            <a:avLst/>
          </a:prstGeom>
          <a:solidFill>
            <a:srgbClr val="E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74519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3A4A"/>
                </a:solidFill>
                <a:latin typeface="Cambria"/>
              </a:rPr>
              <a:t>Transformar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Agrupa las filas hijas por su FK con defaultdict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Cada pedido recibe items, pagos y envío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Copia la dirección; calcula el promedio de reseñas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18120" y="2834640"/>
            <a:ext cx="274320" cy="365760"/>
          </a:xfrm>
          <a:prstGeom prst="rightArrow">
            <a:avLst/>
          </a:prstGeom>
          <a:solidFill>
            <a:srgbClr val="E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74519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3A4A"/>
                </a:solidFill>
                <a:latin typeface="Cambria"/>
              </a:rPr>
              <a:t>Cargar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Borra y recrea cada colección (repetible)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Validadores $jsonSchema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 Lotes de 1.000 e índices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962E"/>
                </a:solidFill>
                <a:latin typeface="Consolas"/>
              </a:rPr>
              <a:t>_id = 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el pedido 24 es el mismo en ambos motores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47091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962E"/>
                </a:solidFill>
                <a:latin typeface="Consolas"/>
              </a:rPr>
              <a:t>Decimal128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dinero exacto al centavo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47091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962E"/>
                </a:solidFill>
                <a:latin typeface="Consolas"/>
              </a:rPr>
              <a:t>Sin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si no aplica, el campo no existe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47091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962E"/>
                </a:solidFill>
                <a:latin typeface="Consolas"/>
              </a:rPr>
              <a:t>Fechas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DATE → fecha a medianoche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8A5E"/>
                </a:solidFill>
                <a:latin typeface="Calibri"/>
              </a:rPr>
              <a:t>Demo: python migracion/migrar.py  →  6 colecciones cargadas en ≈ 1 segundo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Aplicación de escritorio: migrador genérico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Valor agregado: migra cualquier base de SQL Server a MongoDB (PySide6)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5 · Aplicación</a:t>
            </a:r>
          </a:p>
        </p:txBody>
      </p:sp>
      <p:pic>
        <p:nvPicPr>
          <p:cNvPr id="5" name="Picture 4" descr="app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858000" cy="407193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26679" y="1645920"/>
            <a:ext cx="411480" cy="41148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627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Conexión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947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origen SQL Server y destino MongoDB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2514600"/>
            <a:ext cx="411480" cy="41148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963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8163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lee el esquema, propone y justifica cada tabla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3383280"/>
            <a:ext cx="411480" cy="41148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3649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Migración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6850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progreso, registro y creación de índices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4251959"/>
            <a:ext cx="411480" cy="41148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2336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Verificación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553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conteos, sumas, $lookup y muestra: reporte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5212080"/>
            <a:ext cx="3931920" cy="105156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532180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8A5E"/>
                </a:solidFill>
                <a:latin typeface="Calibri"/>
              </a:rPr>
              <a:t>Con TiendaOnline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Propone 7 colecciones · verificación 39/39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Las tres opciones que ofrece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Para cada tabla se elige una; la vista previa muestra cómo queda el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5 · Aplicación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Colección propia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(referencing)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546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La tabla queda como colección independiente. Sus llaves foráneas se guardan como ids (cliente_id) y se unen con $lookup.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Cuándo: tiene vida propia o la usan otras tablas.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Ej.: productos, clientes, resenas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Array embebido en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(embedding 1:N)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1546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Las filas se guardan como una lista de documentos dentro de su padre X. Desaparece como colección.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Cuándo: pertenece a un padre y tiene pocos hijos por padre (≤ 500).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Ej.: detalle_pedido [ ], pagos [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37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Subdocumento en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762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(embedding 1:1)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31546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La fila se guarda como un solo objeto dentro del padre X, no como lista.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Cuándo: solo aparece si la relación es 1:1 (máx. 1 hijo por padre).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Ej.: envio {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¿Por qué unas tablas tienen una sola opción y otras varias?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Opciones = Colección + un array por cada llave foránea + subdocumento si la relación es 1:1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5 · Aplicación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109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169164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Opciones que ofrece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Propone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73152" marR="73152" marT="27432" marB="27432">
                    <a:solidFill>
                      <a:srgbClr val="2B3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Categorias, Proveedores, Clientes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Solo colección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No tienen FK: no hay padre donde meterlas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Productos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en Categorias · array en Proveedores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La usan DetallePedido y Resenas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Pedidos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en Clientes · array en Direcciones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La usan Detalle, Pagos y Envios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Direcciones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en Clientes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*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Pedidos la referencia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DetallePedido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en Pedidos · array en Productos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Array en Pedidos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Su nombre la ata a Pedidos; máx. 5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Pagos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en Pedidos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Array en Pedidos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Nadie la usa; máx. 2 por pedido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Envios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· subdocumento en Pedidos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Subdocumento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Única por pedido: 1:1</a:t>
                      </a:r>
                    </a:p>
                  </a:txBody>
                  <a:tcPr anchor="ctr" marL="73152" marR="73152" marT="27432" marB="27432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Resenas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 · array en Productos · array en Clientes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Colección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3"/>
                          </a:solidFill>
                          <a:latin typeface="Calibri"/>
                        </a:rPr>
                        <a:t>Dos padres, ningún dueño claro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E6B78"/>
                </a:solidFill>
                <a:latin typeface="Calibri"/>
              </a:rPr>
              <a:t>* En nuestro modelo manual Direcciones va embebida en clientes y copiada en cada pedido: es una decisión de negocio que el esquema no revela.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Verificación: 79 de 79 controles correctos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migracion/verificar.py compara SQL Server con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6 · Verificación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291840" cy="4572000"/>
          </a:xfrm>
          <a:prstGeom prst="roundRect">
            <a:avLst>
              <a:gd name="adj" fmla="val 6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E8962E"/>
                </a:solidFill>
                <a:latin typeface="Cambria"/>
              </a:rPr>
              <a:t>79/79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controles correctos: no se perdió ni cambió ningún dato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91640"/>
            <a:ext cx="777240" cy="685800"/>
          </a:xfrm>
          <a:prstGeom prst="roundRect">
            <a:avLst>
              <a:gd name="adj" fmla="val 6000"/>
            </a:avLst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691640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09928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Conteos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39112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B78"/>
                </a:solidFill>
                <a:latin typeface="Calibri"/>
              </a:rPr>
              <a:t>4.317 filas de DetallePedido = suma del tamaño de items[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587752"/>
            <a:ext cx="777240" cy="685800"/>
          </a:xfrm>
          <a:prstGeom prst="roundRect">
            <a:avLst>
              <a:gd name="adj" fmla="val 6000"/>
            </a:avLst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587752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0604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Sumas de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35224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B78"/>
                </a:solidFill>
                <a:latin typeface="Calibri"/>
              </a:rPr>
              <a:t>Total de pedidos: $1.426.165.610 en ambos, al centavo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483864"/>
            <a:ext cx="777240" cy="685800"/>
          </a:xfrm>
          <a:prstGeom prst="roundRect">
            <a:avLst>
              <a:gd name="adj" fmla="val 6000"/>
            </a:avLst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483864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502152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Integridad referencial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831336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B78"/>
                </a:solidFill>
                <a:latin typeface="Calibri"/>
              </a:rPr>
              <a:t>Cada referencia resuelta con $lookup: 0 huérfanos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4379976"/>
            <a:ext cx="777240" cy="685800"/>
          </a:xfrm>
          <a:prstGeom prst="roundRect">
            <a:avLst>
              <a:gd name="adj" fmla="val 6000"/>
            </a:avLst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4379976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98264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Estructuras embebidas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727448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B78"/>
                </a:solidFill>
                <a:latin typeface="Calibri"/>
              </a:rPr>
              <a:t>En los 2.000 pedidos, Σ subtotales de líneas = subtotal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5276088"/>
            <a:ext cx="777240" cy="685800"/>
          </a:xfrm>
          <a:prstGeom prst="roundRect">
            <a:avLst>
              <a:gd name="adj" fmla="val 6000"/>
            </a:avLst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5276088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294375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Muestra campo a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623559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B78"/>
                </a:solidFill>
                <a:latin typeface="Calibri"/>
              </a:rPr>
              <a:t>5 pedidos al azar comparados campo por campo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MongoDB: el documento de un pedido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Un pedido reúne 4 tablas: se lee completo con una sola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7 · MongoDB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766560" cy="4709160"/>
          </a:xfrm>
          <a:prstGeom prst="roundRect">
            <a:avLst>
              <a:gd name="adj" fmla="val 3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4008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{ _id: 24,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962E"/>
                </a:solidFill>
                <a:latin typeface="Consolas"/>
              </a:rPr>
              <a:t>  cliente_id: 658,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fecha: ISODate("2025-01-15"), estado: "Entregado",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B8C4D0"/>
                </a:solidFill>
                <a:latin typeface="Consolas"/>
              </a:rPr>
              <a:t>  direccion_envio: { ciudad: "Medellín", ... },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items: [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  { producto_id: 69, nombre: "Sartén Kora Pro",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    cantidad: 1, subtotal: Decimal128("174900") }, … ],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totales: { subtotal, costo_envio, total },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pagos: [ { metodo: "Tarjeta credito", estado: "Rechazado" },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         { metodo: "Tarjeta credito", estado: "Aprobado" } ],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envio: { transportadora: "Servientrega",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7FD8A8"/>
                </a:solidFill>
                <a:latin typeface="Consolas"/>
              </a:rPr>
              <a:t>          estado: "Entregado", ... }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7647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916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Referencia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0391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cliente_id y producto_id → otras colecciones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6334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5603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Embebido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07791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items [ ], pagos [ ] y envio {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5021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5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4290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Copia histórica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7647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direccion_envio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434840"/>
            <a:ext cx="4023360" cy="1874519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572000"/>
            <a:ext cx="36576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8A5E"/>
                </a:solidFill>
                <a:latin typeface="Calibri"/>
              </a:rPr>
              <a:t>Demo en Compass / mongosh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onsolas"/>
              </a:rPr>
              <a:t>show collections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933"/>
                </a:solidFill>
                <a:latin typeface="Consolas"/>
              </a:rPr>
              <a:t>db.pedidos.findOne({ _id: 24 })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E2933"/>
                </a:solidFill>
                <a:latin typeface="Calibri"/>
              </a:rPr>
              <a:t>En SQL Server esto requiere 5 JOIN.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7 consultas que responden preguntas del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Aggregation Pipeline: $match, $lookup, $unwind, $group, $project, $sort, $limit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47088"/>
            <a:ext cx="566928" cy="566928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7393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productos sostienen la facturación?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12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3 $lookup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847088"/>
            <a:ext cx="566928" cy="566928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7393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categorías dejan más margen?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12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2 $lookup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990088"/>
            <a:ext cx="566928" cy="566928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1693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clientes merecen subir de segmento?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55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1 $lookup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2990088"/>
            <a:ext cx="566928" cy="56692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91693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transportadora cumple mejor?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55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sin $lookup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133087"/>
            <a:ext cx="566928" cy="56692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59935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productos están mal calificados?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98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4 $lookup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31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55080" y="4133087"/>
            <a:ext cx="566928" cy="56692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059935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productos se van a agotar pronto?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498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2 $lookup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5276088"/>
            <a:ext cx="566928" cy="56692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20293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3A4A"/>
                </a:solidFill>
                <a:latin typeface="Calibri"/>
              </a:rPr>
              <a:t>¿Qué medio de pago pierde más ventas?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641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onsolas"/>
              </a:rPr>
              <a:t>sin $lookup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6035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E6B78"/>
                </a:solidFill>
                <a:latin typeface="Calibri"/>
              </a:rPr>
              <a:t>C4 y C7 no necesitan $lookup: los datos ya están embebidos en el pedido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C1 · Productos que sostienen la facturación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10 productos facturan más en 2026 y cuánto margen dejan?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pedidos pagados de 2026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$unwind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una fila por línea del pedido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$group + $sort + $limit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ingresos por producto; top 10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3 × $lookup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productos → categorías → proveedores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margen = ingresos – unidades × costo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Reporte semanal para Compras: asegurar inventario de los productos estrella y negociar volumen con su proveedor.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no perder ventas en lo que más dinero deja.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64592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830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8A5E"/>
                </a:solidFill>
                <a:latin typeface="Calibri"/>
              </a:rPr>
              <a:t>Hallazgo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3A4A"/>
                </a:solidFill>
                <a:latin typeface="Calibri"/>
              </a:rPr>
              <a:t>Smartwatch Zenit Plus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8A5E"/>
                </a:solidFill>
                <a:latin typeface="Cambria"/>
              </a:rPr>
              <a:t>$44,1 M</a:t>
            </a:r>
            <a:r>
              <a:rPr sz="1600" b="0" i="0">
                <a:solidFill>
                  <a:srgbClr val="1E2933"/>
                </a:solidFill>
                <a:latin typeface="Calibri"/>
              </a:rPr>
              <a:t>   47 % de margen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933"/>
                </a:solidFill>
                <a:latin typeface="Calibri"/>
              </a:rPr>
              <a:t>Solo quedan </a:t>
            </a:r>
            <a:r>
              <a:rPr sz="1700" b="1" i="0">
                <a:solidFill>
                  <a:srgbClr val="D9534F"/>
                </a:solidFill>
                <a:latin typeface="Calibri"/>
              </a:rPr>
              <a:t>9 unidades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C2 · Rentabilidad por categoría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categorías facturan más y cuáles dejan más margen?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$unwind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una fila por línea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productos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sub-pipeline: solo categoría y costo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$group categoría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$addToSet cuenta pedidos distintos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categorias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nombre de la categoría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% margen = (ingresos – costo) / ingresos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Repartir el presupuesto de publicidad hacia las categorías que más utilidad dejan por cada peso vendido.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el mercadeo rinde más.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% de margen · 6 categorías que más facturan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217920" y="1874519"/>
          <a:ext cx="54864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C3 · Clientes candidatos a subir de segmento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clientes que no son Oro compran como si lo fueran?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$match + $group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pedidos entregados por cliente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trae el segmento del cliente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filtra lo que trajo el $lookup: segmento ≠ Oro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$sort + $limit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15 que más compran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$arrayElemAt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ciudad principal desde direcciones [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Proceso mensual que reclasifica clientes y les envía beneficios: cupones, envío gratis, atención preferente.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retener a los clientes de más valor.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64592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830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8A5E"/>
                </a:solidFill>
                <a:latin typeface="Calibri"/>
              </a:rPr>
              <a:t>Hallazgo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3A4A"/>
                </a:solidFill>
                <a:latin typeface="Calibri"/>
              </a:rPr>
              <a:t>Cliente en segmento Estándar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8A5E"/>
                </a:solidFill>
                <a:latin typeface="Cambria"/>
              </a:rPr>
              <a:t>28</a:t>
            </a:r>
            <a:r>
              <a:rPr sz="1600" b="0" i="0">
                <a:solidFill>
                  <a:srgbClr val="1E2933"/>
                </a:solidFill>
                <a:latin typeface="Calibri"/>
              </a:rPr>
              <a:t> pedidos   </a:t>
            </a:r>
            <a:r>
              <a:rPr sz="3000" b="1" i="0">
                <a:solidFill>
                  <a:srgbClr val="1F8A5E"/>
                </a:solidFill>
                <a:latin typeface="Cambria"/>
              </a:rPr>
              <a:t>$23,9 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Compra como cliente Oro y no recibe sus beneficios.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C4 · Desempeño de las transportadoras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transportadora entrega a tiempo y cuál incumple?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$match envio.estado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filtra el envío embebido: sin $lookup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$dateDiff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días reales de entrega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$cond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marca 1 si llegó después de lo prometido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promedio de días y entregas tarde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de la que más incumple a la que menos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Tablero de cumplimiento: dar más volumen a la más cumplida, exigir mejoras o penalizar a la que incumple.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menos reclamos y más recompra.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% de entregas tarde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217920" y="1874519"/>
          <a:ext cx="54864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C5 · Productos mal calificados y su proveedor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productos tienen promedio menor a 3 y quién los provee?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$group + $match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promedio &lt; 3 con al menos 3 reseñas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productos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nombre y SKU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categorias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categoría del producto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proveedores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proveedor y su correo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let +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las 2 quejas más recientes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Alerta de calidad para Compras: abrir reclamo al proveedor, pausar el producto o cambiar de proveedor.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menos devoluciones y mejor reputación.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64592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830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8A5E"/>
                </a:solidFill>
                <a:latin typeface="Calibri"/>
              </a:rPr>
              <a:t>Hallazgo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3A4A"/>
                </a:solidFill>
                <a:latin typeface="Calibri"/>
              </a:rPr>
              <a:t>Licuadora Cumbre Plus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D9534F"/>
                </a:solidFill>
                <a:latin typeface="Cambria"/>
              </a:rPr>
              <a:t>1,69 ★</a:t>
            </a:r>
            <a:r>
              <a:rPr sz="1600" b="0" i="0">
                <a:solidFill>
                  <a:srgbClr val="1E2933"/>
                </a:solidFill>
                <a:latin typeface="Calibri"/>
              </a:rPr>
              <a:t>   en 13 reseñas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Importadora Global S.A.S. provee 3 de los peor calificados.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C6 · Riesgo de agotamiento de existencias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productos se van a agotar al ritmo de venta actual?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productos activos con stock ≤ 20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let +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unidades vendidas en 90 días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$unwind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descarta los que no se venden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$lookup proveedores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a quién pedirle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628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días de inventario = stock / venta diaria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Lista diaria de órdenes de compra priorizadas, con el correo del proveedor listo para enviar el pedido.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menos ventas perdidas por falta de stock.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64592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830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8A5E"/>
                </a:solidFill>
                <a:latin typeface="Calibri"/>
              </a:rPr>
              <a:t>Hallazgo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D9534F"/>
                </a:solidFill>
                <a:latin typeface="Cambria"/>
              </a:rPr>
              <a:t>0</a:t>
            </a:r>
            <a:r>
              <a:rPr sz="1500" b="0" i="0">
                <a:solidFill>
                  <a:srgbClr val="1E2933"/>
                </a:solidFill>
                <a:latin typeface="Calibri"/>
              </a:rPr>
              <a:t>  unidades: un libro que se sigue vendiendo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8962E"/>
                </a:solidFill>
                <a:latin typeface="Cambria"/>
              </a:rPr>
              <a:t>22</a:t>
            </a:r>
            <a:r>
              <a:rPr sz="1500" b="0" i="0">
                <a:solidFill>
                  <a:srgbClr val="1E2933"/>
                </a:solidFill>
                <a:latin typeface="Calibri"/>
              </a:rPr>
              <a:t>  días para agotar el Smartwatch Zenit Plus, n.º 1 en ingresos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B3A4A"/>
                </a:solidFill>
                <a:latin typeface="Cambria"/>
              </a:rPr>
              <a:t>C7 · Tasa de rechazo por medio de pago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E6B78"/>
                </a:solidFill>
                <a:latin typeface="Calibri"/>
              </a:rPr>
              <a:t>¿Qué medio de pago rechaza más compras?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78"/>
                </a:solidFill>
                <a:latin typeface="Calibri"/>
              </a:rPr>
              <a:t>8 ·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B3A4A"/>
                </a:solidFill>
                <a:latin typeface="Calibri"/>
              </a:rPr>
              <a:t>Cómo funciona el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$unwind pagos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separa el array embebido de intentos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$group método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$cond cuenta aprobados y rechazados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tasa de rechazo y monto rechazado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1F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410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onsolas"/>
              </a:rPr>
              <a:t>$sort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78"/>
                </a:solidFill>
                <a:latin typeface="Calibri"/>
              </a:rPr>
              <a:t>del que más rechaza al que menos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3434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98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962E"/>
                </a:solidFill>
                <a:latin typeface="Calibri"/>
              </a:rPr>
              <a:t>En un entorno real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Negociar con la pasarela de pagos y sugerir Nequi o PSE en el checkout cuando falla la tarjeta.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Impacto: 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más compras concretadas, menos carritos abandonados.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0020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% de intentos rechazados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17920" y="1874519"/>
          <a:ext cx="54864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709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El modelo sigue cómo se usan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488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1F4F7"/>
                </a:solidFill>
                <a:latin typeface="Calibri"/>
              </a:rPr>
              <a:t>El pedido se lee y escribe completo en un documento; lo que tiene vida propia se referencia.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6148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La migración es verificable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00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1F4F7"/>
                </a:solidFill>
                <a:latin typeface="Calibri"/>
              </a:rPr>
              <a:t>79 controles: cantidades, dinero al centavo y referencias, incluso en tablas fusionadas.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40479"/>
            <a:ext cx="502920" cy="50292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13047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Las consultas llevan a decisiones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51959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1F4F7"/>
                </a:solidFill>
                <a:latin typeface="Calibri"/>
              </a:rPr>
              <a:t>Inventario, proveedores, transportadoras, clientes y medios de pago.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E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864607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Los criterios son reutilizables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03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1F4F7"/>
                </a:solidFill>
                <a:latin typeface="Calibri"/>
              </a:rPr>
              <a:t>La aplicación aplica las mismas reglas a cualquier base de SQL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8962E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